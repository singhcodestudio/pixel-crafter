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60" r:id="rId3"/>
    <p:sldId id="262" r:id="rId4"/>
    <p:sldId id="263" r:id="rId5"/>
    <p:sldId id="259" r:id="rId6"/>
    <p:sldId id="270" r:id="rId7"/>
    <p:sldId id="271" r:id="rId8"/>
    <p:sldId id="265" r:id="rId9"/>
    <p:sldId id="264" r:id="rId10"/>
    <p:sldId id="266" r:id="rId11"/>
    <p:sldId id="267" r:id="rId1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7BE1"/>
    <a:srgbClr val="0A47C0"/>
    <a:srgbClr val="2F78D1"/>
    <a:srgbClr val="15579F"/>
    <a:srgbClr val="3372D9"/>
    <a:srgbClr val="151A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43AFAF-BF66-4C5D-BE1E-3F6B8E5175E3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9B52AF-2485-4A76-B5FD-4F686DA29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011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1734a882cf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1" name="Google Shape;1301;g1734a882cf6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2" name="Google Shape;1322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0">
          <a:extLst>
            <a:ext uri="{FF2B5EF4-FFF2-40B4-BE49-F238E27FC236}">
              <a16:creationId xmlns:a16="http://schemas.microsoft.com/office/drawing/2014/main" id="{0820F005-2BBC-CC28-9F6B-972C758A5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g54dda1946d_6_344:notes">
            <a:extLst>
              <a:ext uri="{FF2B5EF4-FFF2-40B4-BE49-F238E27FC236}">
                <a16:creationId xmlns:a16="http://schemas.microsoft.com/office/drawing/2014/main" id="{706F47F4-4145-8394-7CF2-645BB70E31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2" name="Google Shape;1322;g54dda1946d_6_344:notes">
            <a:extLst>
              <a:ext uri="{FF2B5EF4-FFF2-40B4-BE49-F238E27FC236}">
                <a16:creationId xmlns:a16="http://schemas.microsoft.com/office/drawing/2014/main" id="{27AF27EE-E9F3-920E-0DC4-DFC9713F4B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545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"/>
          <p:cNvSpPr txBox="1">
            <a:spLocks noGrp="1"/>
          </p:cNvSpPr>
          <p:nvPr>
            <p:ph type="title"/>
          </p:nvPr>
        </p:nvSpPr>
        <p:spPr>
          <a:xfrm>
            <a:off x="8271950" y="3515800"/>
            <a:ext cx="8589600" cy="114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7"/>
          <p:cNvSpPr txBox="1">
            <a:spLocks noGrp="1"/>
          </p:cNvSpPr>
          <p:nvPr>
            <p:ph type="subTitle" idx="1"/>
          </p:nvPr>
        </p:nvSpPr>
        <p:spPr>
          <a:xfrm>
            <a:off x="8271950" y="4661200"/>
            <a:ext cx="8589600" cy="24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46" name="Google Shape;246;p7"/>
          <p:cNvGrpSpPr/>
          <p:nvPr/>
        </p:nvGrpSpPr>
        <p:grpSpPr>
          <a:xfrm>
            <a:off x="10957729" y="4113403"/>
            <a:ext cx="10072530" cy="8226630"/>
            <a:chOff x="4780389" y="2513201"/>
            <a:chExt cx="5036265" cy="4113315"/>
          </a:xfrm>
        </p:grpSpPr>
        <p:grpSp>
          <p:nvGrpSpPr>
            <p:cNvPr id="247" name="Google Shape;247;p7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248" name="Google Shape;248;p7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600"/>
              </a:p>
            </p:txBody>
          </p:sp>
          <p:grpSp>
            <p:nvGrpSpPr>
              <p:cNvPr id="249" name="Google Shape;249;p7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250" name="Google Shape;250;p7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251" name="Google Shape;251;p7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252" name="Google Shape;252;p7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253" name="Google Shape;253;p7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254" name="Google Shape;254;p7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255" name="Google Shape;255;p7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256" name="Google Shape;256;p7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257" name="Google Shape;257;p7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258" name="Google Shape;258;p7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259" name="Google Shape;259;p7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260" name="Google Shape;260;p7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261" name="Google Shape;261;p7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262" name="Google Shape;262;p7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263" name="Google Shape;263;p7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264" name="Google Shape;264;p7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265" name="Google Shape;265;p7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266" name="Google Shape;266;p7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267" name="Google Shape;267;p7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268" name="Google Shape;268;p7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269" name="Google Shape;269;p7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270" name="Google Shape;270;p7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271" name="Google Shape;271;p7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272" name="Google Shape;272;p7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273" name="Google Shape;273;p7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274" name="Google Shape;274;p7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275" name="Google Shape;275;p7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276" name="Google Shape;276;p7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277" name="Google Shape;277;p7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278" name="Google Shape;278;p7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</p:grpSp>
            <p:sp>
              <p:nvSpPr>
                <p:cNvPr id="279" name="Google Shape;279;p7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600"/>
                </a:p>
              </p:txBody>
            </p:sp>
            <p:sp>
              <p:nvSpPr>
                <p:cNvPr id="280" name="Google Shape;280;p7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600"/>
                </a:p>
              </p:txBody>
            </p:sp>
            <p:sp>
              <p:nvSpPr>
                <p:cNvPr id="281" name="Google Shape;281;p7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600"/>
                </a:p>
              </p:txBody>
            </p:sp>
            <p:sp>
              <p:nvSpPr>
                <p:cNvPr id="282" name="Google Shape;282;p7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600"/>
                </a:p>
              </p:txBody>
            </p:sp>
            <p:sp>
              <p:nvSpPr>
                <p:cNvPr id="283" name="Google Shape;283;p7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600"/>
                </a:p>
              </p:txBody>
            </p:sp>
            <p:sp>
              <p:nvSpPr>
                <p:cNvPr id="284" name="Google Shape;284;p7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600"/>
                </a:p>
              </p:txBody>
            </p:sp>
            <p:sp>
              <p:nvSpPr>
                <p:cNvPr id="285" name="Google Shape;285;p7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600"/>
                </a:p>
              </p:txBody>
            </p:sp>
            <p:sp>
              <p:nvSpPr>
                <p:cNvPr id="286" name="Google Shape;286;p7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600"/>
                </a:p>
              </p:txBody>
            </p:sp>
          </p:grpSp>
        </p:grpSp>
        <p:sp>
          <p:nvSpPr>
            <p:cNvPr id="287" name="Google Shape;287;p7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/>
            </a:p>
          </p:txBody>
        </p:sp>
        <p:sp>
          <p:nvSpPr>
            <p:cNvPr id="288" name="Google Shape;288;p7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/>
            </a:p>
          </p:txBody>
        </p:sp>
        <p:sp>
          <p:nvSpPr>
            <p:cNvPr id="289" name="Google Shape;289;p7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/>
            </a:p>
          </p:txBody>
        </p:sp>
      </p:grpSp>
      <p:grpSp>
        <p:nvGrpSpPr>
          <p:cNvPr id="290" name="Google Shape;290;p7"/>
          <p:cNvGrpSpPr/>
          <p:nvPr/>
        </p:nvGrpSpPr>
        <p:grpSpPr>
          <a:xfrm>
            <a:off x="-256671" y="-5032523"/>
            <a:ext cx="10072530" cy="8226630"/>
            <a:chOff x="4780389" y="2513201"/>
            <a:chExt cx="5036265" cy="4113315"/>
          </a:xfrm>
        </p:grpSpPr>
        <p:grpSp>
          <p:nvGrpSpPr>
            <p:cNvPr id="291" name="Google Shape;291;p7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292" name="Google Shape;292;p7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600"/>
              </a:p>
            </p:txBody>
          </p:sp>
          <p:grpSp>
            <p:nvGrpSpPr>
              <p:cNvPr id="293" name="Google Shape;293;p7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294" name="Google Shape;294;p7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295" name="Google Shape;295;p7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296" name="Google Shape;296;p7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297" name="Google Shape;297;p7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298" name="Google Shape;298;p7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299" name="Google Shape;299;p7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300" name="Google Shape;300;p7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301" name="Google Shape;301;p7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302" name="Google Shape;302;p7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303" name="Google Shape;303;p7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304" name="Google Shape;304;p7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305" name="Google Shape;305;p7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306" name="Google Shape;306;p7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307" name="Google Shape;307;p7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308" name="Google Shape;308;p7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309" name="Google Shape;309;p7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310" name="Google Shape;310;p7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311" name="Google Shape;311;p7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312" name="Google Shape;312;p7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313" name="Google Shape;313;p7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314" name="Google Shape;314;p7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315" name="Google Shape;315;p7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316" name="Google Shape;316;p7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317" name="Google Shape;317;p7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318" name="Google Shape;318;p7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319" name="Google Shape;319;p7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320" name="Google Shape;320;p7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321" name="Google Shape;321;p7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  <p:sp>
                <p:nvSpPr>
                  <p:cNvPr id="322" name="Google Shape;322;p7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3600"/>
                  </a:p>
                </p:txBody>
              </p:sp>
            </p:grpSp>
            <p:sp>
              <p:nvSpPr>
                <p:cNvPr id="323" name="Google Shape;323;p7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600"/>
                </a:p>
              </p:txBody>
            </p:sp>
            <p:sp>
              <p:nvSpPr>
                <p:cNvPr id="324" name="Google Shape;324;p7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600"/>
                </a:p>
              </p:txBody>
            </p:sp>
            <p:sp>
              <p:nvSpPr>
                <p:cNvPr id="325" name="Google Shape;325;p7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600"/>
                </a:p>
              </p:txBody>
            </p:sp>
            <p:sp>
              <p:nvSpPr>
                <p:cNvPr id="326" name="Google Shape;326;p7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600"/>
                </a:p>
              </p:txBody>
            </p:sp>
            <p:sp>
              <p:nvSpPr>
                <p:cNvPr id="327" name="Google Shape;327;p7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600"/>
                </a:p>
              </p:txBody>
            </p:sp>
            <p:sp>
              <p:nvSpPr>
                <p:cNvPr id="328" name="Google Shape;328;p7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600"/>
                </a:p>
              </p:txBody>
            </p:sp>
            <p:sp>
              <p:nvSpPr>
                <p:cNvPr id="329" name="Google Shape;329;p7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600"/>
                </a:p>
              </p:txBody>
            </p:sp>
            <p:sp>
              <p:nvSpPr>
                <p:cNvPr id="330" name="Google Shape;330;p7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600"/>
                </a:p>
              </p:txBody>
            </p:sp>
          </p:grpSp>
        </p:grpSp>
        <p:sp>
          <p:nvSpPr>
            <p:cNvPr id="331" name="Google Shape;331;p7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/>
            </a:p>
          </p:txBody>
        </p:sp>
        <p:sp>
          <p:nvSpPr>
            <p:cNvPr id="332" name="Google Shape;332;p7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/>
            </a:p>
          </p:txBody>
        </p:sp>
        <p:sp>
          <p:nvSpPr>
            <p:cNvPr id="333" name="Google Shape;333;p7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/>
            </a:p>
          </p:txBody>
        </p:sp>
      </p:grpSp>
    </p:spTree>
    <p:extLst>
      <p:ext uri="{BB962C8B-B14F-4D97-AF65-F5344CB8AC3E}">
        <p14:creationId xmlns:p14="http://schemas.microsoft.com/office/powerpoint/2010/main" val="35148799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22"/>
          <p:cNvSpPr txBox="1">
            <a:spLocks noGrp="1"/>
          </p:cNvSpPr>
          <p:nvPr>
            <p:ph type="title"/>
          </p:nvPr>
        </p:nvSpPr>
        <p:spPr>
          <a:xfrm>
            <a:off x="1440000" y="1079000"/>
            <a:ext cx="15408000" cy="114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812" name="Google Shape;812;p22"/>
          <p:cNvSpPr txBox="1">
            <a:spLocks noGrp="1"/>
          </p:cNvSpPr>
          <p:nvPr>
            <p:ph type="subTitle" idx="1"/>
          </p:nvPr>
        </p:nvSpPr>
        <p:spPr>
          <a:xfrm>
            <a:off x="1853974" y="6361500"/>
            <a:ext cx="4190400" cy="17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3" name="Google Shape;813;p22"/>
          <p:cNvSpPr txBox="1">
            <a:spLocks noGrp="1"/>
          </p:cNvSpPr>
          <p:nvPr>
            <p:ph type="subTitle" idx="2"/>
          </p:nvPr>
        </p:nvSpPr>
        <p:spPr>
          <a:xfrm>
            <a:off x="7048798" y="6361500"/>
            <a:ext cx="4190400" cy="17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4" name="Google Shape;814;p22"/>
          <p:cNvSpPr txBox="1">
            <a:spLocks noGrp="1"/>
          </p:cNvSpPr>
          <p:nvPr>
            <p:ph type="subTitle" idx="3"/>
          </p:nvPr>
        </p:nvSpPr>
        <p:spPr>
          <a:xfrm>
            <a:off x="12243622" y="6361500"/>
            <a:ext cx="4190400" cy="17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5" name="Google Shape;815;p22"/>
          <p:cNvSpPr txBox="1">
            <a:spLocks noGrp="1"/>
          </p:cNvSpPr>
          <p:nvPr>
            <p:ph type="subTitle" idx="4"/>
          </p:nvPr>
        </p:nvSpPr>
        <p:spPr>
          <a:xfrm>
            <a:off x="1853974" y="5452350"/>
            <a:ext cx="41904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4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48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48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48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48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48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48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48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48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16" name="Google Shape;816;p22"/>
          <p:cNvSpPr txBox="1">
            <a:spLocks noGrp="1"/>
          </p:cNvSpPr>
          <p:nvPr>
            <p:ph type="subTitle" idx="5"/>
          </p:nvPr>
        </p:nvSpPr>
        <p:spPr>
          <a:xfrm>
            <a:off x="7048798" y="5452350"/>
            <a:ext cx="41904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4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48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48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48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48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48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48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48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48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17" name="Google Shape;817;p22"/>
          <p:cNvSpPr txBox="1">
            <a:spLocks noGrp="1"/>
          </p:cNvSpPr>
          <p:nvPr>
            <p:ph type="subTitle" idx="6"/>
          </p:nvPr>
        </p:nvSpPr>
        <p:spPr>
          <a:xfrm>
            <a:off x="12243622" y="5452350"/>
            <a:ext cx="41904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4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48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48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48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48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48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48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48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48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818" name="Google Shape;818;p22"/>
          <p:cNvGrpSpPr/>
          <p:nvPr/>
        </p:nvGrpSpPr>
        <p:grpSpPr>
          <a:xfrm>
            <a:off x="14443035" y="-1015912"/>
            <a:ext cx="5065450" cy="3763500"/>
            <a:chOff x="7221517" y="-507956"/>
            <a:chExt cx="2532725" cy="1881750"/>
          </a:xfrm>
        </p:grpSpPr>
        <p:sp>
          <p:nvSpPr>
            <p:cNvPr id="819" name="Google Shape;819;p22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/>
            </a:p>
          </p:txBody>
        </p:sp>
        <p:sp>
          <p:nvSpPr>
            <p:cNvPr id="820" name="Google Shape;820;p22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/>
            </a:p>
          </p:txBody>
        </p:sp>
        <p:sp>
          <p:nvSpPr>
            <p:cNvPr id="821" name="Google Shape;821;p22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/>
            </a:p>
          </p:txBody>
        </p:sp>
        <p:sp>
          <p:nvSpPr>
            <p:cNvPr id="822" name="Google Shape;822;p22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/>
            </a:p>
          </p:txBody>
        </p:sp>
        <p:sp>
          <p:nvSpPr>
            <p:cNvPr id="823" name="Google Shape;823;p22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/>
            </a:p>
          </p:txBody>
        </p:sp>
        <p:sp>
          <p:nvSpPr>
            <p:cNvPr id="824" name="Google Shape;824;p22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/>
            </a:p>
          </p:txBody>
        </p:sp>
        <p:sp>
          <p:nvSpPr>
            <p:cNvPr id="825" name="Google Shape;825;p22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/>
            </a:p>
          </p:txBody>
        </p:sp>
        <p:sp>
          <p:nvSpPr>
            <p:cNvPr id="826" name="Google Shape;826;p22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/>
            </a:p>
          </p:txBody>
        </p:sp>
        <p:sp>
          <p:nvSpPr>
            <p:cNvPr id="827" name="Google Shape;827;p22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/>
            </a:p>
          </p:txBody>
        </p:sp>
        <p:sp>
          <p:nvSpPr>
            <p:cNvPr id="828" name="Google Shape;828;p22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/>
            </a:p>
          </p:txBody>
        </p:sp>
      </p:grpSp>
      <p:grpSp>
        <p:nvGrpSpPr>
          <p:cNvPr id="829" name="Google Shape;829;p22"/>
          <p:cNvGrpSpPr/>
          <p:nvPr/>
        </p:nvGrpSpPr>
        <p:grpSpPr>
          <a:xfrm flipH="1">
            <a:off x="-1673265" y="-1015912"/>
            <a:ext cx="5065450" cy="3763500"/>
            <a:chOff x="7221517" y="-507956"/>
            <a:chExt cx="2532725" cy="1881750"/>
          </a:xfrm>
        </p:grpSpPr>
        <p:sp>
          <p:nvSpPr>
            <p:cNvPr id="830" name="Google Shape;830;p22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/>
            </a:p>
          </p:txBody>
        </p:sp>
        <p:sp>
          <p:nvSpPr>
            <p:cNvPr id="831" name="Google Shape;831;p22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/>
            </a:p>
          </p:txBody>
        </p:sp>
        <p:sp>
          <p:nvSpPr>
            <p:cNvPr id="832" name="Google Shape;832;p22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/>
            </a:p>
          </p:txBody>
        </p:sp>
        <p:sp>
          <p:nvSpPr>
            <p:cNvPr id="833" name="Google Shape;833;p22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/>
            </a:p>
          </p:txBody>
        </p:sp>
        <p:sp>
          <p:nvSpPr>
            <p:cNvPr id="834" name="Google Shape;834;p22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/>
            </a:p>
          </p:txBody>
        </p:sp>
        <p:sp>
          <p:nvSpPr>
            <p:cNvPr id="835" name="Google Shape;835;p22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/>
            </a:p>
          </p:txBody>
        </p:sp>
        <p:sp>
          <p:nvSpPr>
            <p:cNvPr id="836" name="Google Shape;836;p22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/>
            </a:p>
          </p:txBody>
        </p:sp>
        <p:sp>
          <p:nvSpPr>
            <p:cNvPr id="837" name="Google Shape;837;p22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/>
            </a:p>
          </p:txBody>
        </p:sp>
        <p:sp>
          <p:nvSpPr>
            <p:cNvPr id="838" name="Google Shape;838;p22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/>
            </a:p>
          </p:txBody>
        </p:sp>
        <p:sp>
          <p:nvSpPr>
            <p:cNvPr id="839" name="Google Shape;839;p22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/>
            </a:p>
          </p:txBody>
        </p:sp>
      </p:grpSp>
    </p:spTree>
    <p:extLst>
      <p:ext uri="{BB962C8B-B14F-4D97-AF65-F5344CB8AC3E}">
        <p14:creationId xmlns:p14="http://schemas.microsoft.com/office/powerpoint/2010/main" val="2982198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6.jpe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922325" y="3003777"/>
            <a:ext cx="9738112" cy="1447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00"/>
              </a:lnSpc>
            </a:pPr>
            <a:endParaRPr lang="en-US" sz="9500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-2801897" y="7205261"/>
            <a:ext cx="8174353" cy="1220873"/>
            <a:chOff x="0" y="-28575"/>
            <a:chExt cx="10899137" cy="1627830"/>
          </a:xfrm>
        </p:grpSpPr>
        <p:sp>
          <p:nvSpPr>
            <p:cNvPr id="8" name="TextBox 8"/>
            <p:cNvSpPr txBox="1"/>
            <p:nvPr/>
          </p:nvSpPr>
          <p:spPr>
            <a:xfrm>
              <a:off x="0" y="-28575"/>
              <a:ext cx="5334321" cy="5086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19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98962" y="599153"/>
              <a:ext cx="4600175" cy="10001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89"/>
                </a:lnSpc>
                <a:spcBef>
                  <a:spcPct val="0"/>
                </a:spcBef>
              </a:pPr>
              <a:endParaRPr lang="en-US" sz="2299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marL="0" lvl="0" indent="0" algn="l">
                <a:lnSpc>
                  <a:spcPts val="2989"/>
                </a:lnSpc>
                <a:spcBef>
                  <a:spcPct val="0"/>
                </a:spcBef>
              </a:pPr>
              <a:endParaRPr lang="en-US" sz="2299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929EC9BF-F820-E3F0-1DF5-3AB75531313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F78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6D5550-6508-8720-3A64-209446FECFA9}"/>
              </a:ext>
            </a:extLst>
          </p:cNvPr>
          <p:cNvSpPr txBox="1"/>
          <p:nvPr/>
        </p:nvSpPr>
        <p:spPr>
          <a:xfrm>
            <a:off x="5181600" y="3162299"/>
            <a:ext cx="10210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b="1" dirty="0">
                <a:solidFill>
                  <a:schemeClr val="bg1"/>
                </a:solidFill>
                <a:latin typeface="Arial Black" panose="020B0A04020102020204" pitchFamily="34" charset="0"/>
              </a:rPr>
              <a:t>OFFICE </a:t>
            </a:r>
          </a:p>
          <a:p>
            <a:r>
              <a:rPr lang="en-IN" sz="9600" b="1" dirty="0">
                <a:solidFill>
                  <a:schemeClr val="bg1"/>
                </a:solidFill>
                <a:latin typeface="Arial Black" panose="020B0A04020102020204" pitchFamily="34" charset="0"/>
              </a:rPr>
              <a:t>      BOTICS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9D3456-DBE6-E2BD-EAAD-2B4FC59D6B3A}"/>
              </a:ext>
            </a:extLst>
          </p:cNvPr>
          <p:cNvSpPr txBox="1"/>
          <p:nvPr/>
        </p:nvSpPr>
        <p:spPr>
          <a:xfrm>
            <a:off x="3505200" y="4610100"/>
            <a:ext cx="4038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Redefining work space with intelligence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24BA42A-35E1-CB93-A6F7-17075F186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" y="60965"/>
            <a:ext cx="2743438" cy="103031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2611BD8-313B-5C76-40AB-D49377E82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2400" y="-342900"/>
            <a:ext cx="3200677" cy="15546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FA7FEA8-ED81-1219-7034-70EC0BF0937D}"/>
              </a:ext>
            </a:extLst>
          </p:cNvPr>
          <p:cNvSpPr/>
          <p:nvPr/>
        </p:nvSpPr>
        <p:spPr>
          <a:xfrm>
            <a:off x="12420600" y="0"/>
            <a:ext cx="5867400" cy="10287000"/>
          </a:xfrm>
          <a:prstGeom prst="rect">
            <a:avLst/>
          </a:prstGeom>
          <a:solidFill>
            <a:srgbClr val="2F78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FD8450-CC49-3F5E-15C2-CCF21CA727A2}"/>
              </a:ext>
            </a:extLst>
          </p:cNvPr>
          <p:cNvSpPr txBox="1"/>
          <p:nvPr/>
        </p:nvSpPr>
        <p:spPr>
          <a:xfrm>
            <a:off x="609601" y="1224311"/>
            <a:ext cx="873238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b="1" dirty="0">
                <a:solidFill>
                  <a:srgbClr val="3372D9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About</a:t>
            </a:r>
            <a:r>
              <a:rPr lang="en-IN" sz="8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Company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315F68-40B3-CD96-4ACF-1A74FCDCE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" y="0"/>
            <a:ext cx="2743438" cy="10303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A73B27-4643-6219-AD6F-83AB391AD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00960" y="-260763"/>
            <a:ext cx="3200677" cy="155183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FD5FB6F-012C-049C-5CE3-51AC4A4B86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364" y="1886030"/>
            <a:ext cx="7324679" cy="59664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8DE2512D-11B2-2129-4D17-CFE88A6F82F2}"/>
              </a:ext>
            </a:extLst>
          </p:cNvPr>
          <p:cNvGrpSpPr/>
          <p:nvPr/>
        </p:nvGrpSpPr>
        <p:grpSpPr>
          <a:xfrm>
            <a:off x="424046" y="3212030"/>
            <a:ext cx="2941181" cy="4163416"/>
            <a:chOff x="325566" y="3269120"/>
            <a:chExt cx="2941181" cy="4163416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22D0747-730A-1D4A-5193-D5E887857C7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5800" y="3269120"/>
              <a:ext cx="1112382" cy="111238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489CA2B-CD76-C58F-5847-9451F91EFF05}"/>
                </a:ext>
              </a:extLst>
            </p:cNvPr>
            <p:cNvSpPr txBox="1"/>
            <p:nvPr/>
          </p:nvSpPr>
          <p:spPr>
            <a:xfrm>
              <a:off x="325566" y="4754880"/>
              <a:ext cx="2941181" cy="26776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>
                  <a:latin typeface="Sitka Display Semibold" pitchFamily="2" charset="0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Driving innovation and efficiency to create smarter, more productive workplaces.</a:t>
              </a:r>
              <a:endParaRPr lang="en-IN" sz="2800" dirty="0">
                <a:latin typeface="Sitka Display Semibold" pitchFamily="2" charset="0"/>
                <a:ea typeface="Cascadia Code Light" panose="020B0609020000020004" pitchFamily="49" charset="0"/>
                <a:cs typeface="Cascadia Code Light" panose="020B0609020000020004" pitchFamily="49" charset="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F88D7E5-236D-993F-0451-CA71B005440F}"/>
              </a:ext>
            </a:extLst>
          </p:cNvPr>
          <p:cNvGrpSpPr/>
          <p:nvPr/>
        </p:nvGrpSpPr>
        <p:grpSpPr>
          <a:xfrm>
            <a:off x="3774418" y="3212030"/>
            <a:ext cx="2941180" cy="5032810"/>
            <a:chOff x="3848333" y="3269120"/>
            <a:chExt cx="2941180" cy="5032810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DBEF3F70-4252-3AFA-C2D9-F727F3F6EA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8209" y="3269120"/>
              <a:ext cx="1219200" cy="12192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9DF5225-2A25-0605-7EC3-71F12D05BD3D}"/>
                </a:ext>
              </a:extLst>
            </p:cNvPr>
            <p:cNvSpPr txBox="1"/>
            <p:nvPr/>
          </p:nvSpPr>
          <p:spPr>
            <a:xfrm>
              <a:off x="3848333" y="4762500"/>
              <a:ext cx="2941180" cy="35394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>
                  <a:latin typeface="Sitka Display Semibold" pitchFamily="2" charset="0"/>
                </a:rPr>
                <a:t>Leveraging artificial intelligence to automate tasks, optimize workflows, and enhance decision-making</a:t>
              </a:r>
              <a:r>
                <a:rPr lang="en-US" sz="2800" dirty="0">
                  <a:latin typeface="Sitka Heading Semibold" pitchFamily="2" charset="0"/>
                </a:rPr>
                <a:t>.</a:t>
              </a:r>
              <a:endParaRPr lang="en-IN" sz="2800" dirty="0">
                <a:latin typeface="Sitka Heading Semibold" pitchFamily="2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585AD1B-E936-9E9B-CB14-AD57E2FA6A97}"/>
              </a:ext>
            </a:extLst>
          </p:cNvPr>
          <p:cNvGrpSpPr/>
          <p:nvPr/>
        </p:nvGrpSpPr>
        <p:grpSpPr>
          <a:xfrm>
            <a:off x="6929235" y="3212030"/>
            <a:ext cx="3401674" cy="4877085"/>
            <a:chOff x="7260412" y="3269120"/>
            <a:chExt cx="3401674" cy="487708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85B9985-C042-F461-1F7E-ED5F78823DF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879218" y="3269120"/>
              <a:ext cx="1112382" cy="111238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EAB60E8-0A86-A7BA-6C62-EA6E62DF05D2}"/>
                </a:ext>
              </a:extLst>
            </p:cNvPr>
            <p:cNvSpPr txBox="1"/>
            <p:nvPr/>
          </p:nvSpPr>
          <p:spPr>
            <a:xfrm>
              <a:off x="7260412" y="4606775"/>
              <a:ext cx="3401674" cy="35394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>
                  <a:latin typeface="Sitka Display Semibold" pitchFamily="2" charset="0"/>
                </a:rPr>
                <a:t>Integrating intelligent technologies to streamline operations, improve security, and boost employee productivity.</a:t>
              </a:r>
              <a:endParaRPr lang="en-IN" sz="2800" dirty="0">
                <a:latin typeface="Sitka Display Semibold" pitchFamily="2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705C7-90DF-2F7C-54A4-E65DE7997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2517C2E-89EA-E9B2-3976-8205327296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1400" cy="10287000"/>
          </a:xfrm>
          <a:prstGeom prst="rect">
            <a:avLst/>
          </a:prstGeom>
          <a:solidFill>
            <a:srgbClr val="2F78D1"/>
          </a:solidFill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7ADB48-437B-3325-47AF-5611DC5784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6200" y="-419100"/>
            <a:ext cx="3200400" cy="155558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C808139-AD3A-AF0B-5EBC-27BBC7651DB3}"/>
              </a:ext>
            </a:extLst>
          </p:cNvPr>
          <p:cNvSpPr txBox="1"/>
          <p:nvPr/>
        </p:nvSpPr>
        <p:spPr>
          <a:xfrm>
            <a:off x="8534400" y="358693"/>
            <a:ext cx="8001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The</a:t>
            </a:r>
            <a:r>
              <a:rPr lang="en-IN" sz="8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8000" dirty="0">
                <a:solidFill>
                  <a:srgbClr val="1F7BE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Problem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208C90-9109-8A67-B755-3499797266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" y="-156463"/>
            <a:ext cx="2743438" cy="1030313"/>
          </a:xfrm>
          <a:prstGeom prst="rect">
            <a:avLst/>
          </a:prstGeom>
        </p:spPr>
      </p:pic>
      <p:sp>
        <p:nvSpPr>
          <p:cNvPr id="15" name="Rectangle 1">
            <a:extLst>
              <a:ext uri="{FF2B5EF4-FFF2-40B4-BE49-F238E27FC236}">
                <a16:creationId xmlns:a16="http://schemas.microsoft.com/office/drawing/2014/main" id="{54387E10-1BD8-DD1C-0F9A-5651BB3A1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2499938"/>
            <a:ext cx="9982200" cy="7140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Productivity &amp; Time Management Issues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⏳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Automation &amp; Repetitive Work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🔄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Poor Decision-Making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📉</a:t>
            </a:r>
            <a:endParaRPr lang="en-US" altLang="en-US" sz="3200" dirty="0"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&amp; Data Breaches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🔓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 Burnout &amp; Low Engagement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⚡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Remote Work Capabilities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🌍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Personalization in Training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5353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A16BC-E7F7-BA70-D883-D8CE41574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96AC73-2F56-3CE5-6D59-8D9923FEA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438" cy="103031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9E58B9D-73BC-0EAF-B56D-B62D787309D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ED3D415-33CA-D2EA-6771-7E258493A3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620" y="800100"/>
            <a:ext cx="6690360" cy="9925259"/>
          </a:xfrm>
          <a:prstGeom prst="rect">
            <a:avLst/>
          </a:prstGeom>
          <a:noFill/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E68F2E9-C8B0-8036-6430-24FA97B53948}"/>
              </a:ext>
            </a:extLst>
          </p:cNvPr>
          <p:cNvSpPr txBox="1"/>
          <p:nvPr/>
        </p:nvSpPr>
        <p:spPr>
          <a:xfrm>
            <a:off x="2301241" y="438743"/>
            <a:ext cx="80467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Our</a:t>
            </a:r>
            <a:r>
              <a:rPr lang="en-IN" sz="8000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8000" b="1" dirty="0">
                <a:solidFill>
                  <a:srgbClr val="0A47C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Solution</a:t>
            </a: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70B53C3C-67A6-8E16-0559-72B0B2C8C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723761"/>
            <a:ext cx="12954000" cy="652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Task Automation &amp; Reminders</a:t>
            </a:r>
            <a:r>
              <a:rPr kumimoji="0" lang="en-US" altLang="en-US" sz="3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🕒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AI-Driven Decision Support</a:t>
            </a:r>
            <a:r>
              <a:rPr kumimoji="0" lang="en-US" altLang="en-US" sz="3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📊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Security &amp; Authentication</a:t>
            </a:r>
            <a:r>
              <a:rPr kumimoji="0" lang="en-US" altLang="en-US" sz="3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🔒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 Well-being &amp; Break Time Alerts</a:t>
            </a:r>
            <a:r>
              <a:rPr kumimoji="0" lang="en-US" altLang="en-US" sz="3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☕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Seamless Virtual Office Accessibility</a:t>
            </a:r>
            <a:r>
              <a:rPr kumimoji="0" lang="en-US" altLang="en-US" sz="3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🌐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400" dirty="0">
                <a:latin typeface="Arial" panose="020B0604020202020204" pitchFamily="34" charset="0"/>
              </a:rPr>
              <a:t>     </a:t>
            </a:r>
            <a:endParaRPr kumimoji="0" lang="en-US" altLang="en-US" sz="3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AI Training &amp; Learning</a:t>
            </a:r>
            <a:r>
              <a:rPr kumimoji="0" lang="en-US" altLang="en-US" sz="3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🎓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FF3924-5005-276F-6514-AD438FAB4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" y="60965"/>
            <a:ext cx="2743438" cy="10303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F49309E-0108-DB70-6CE3-92349A7D53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92400" y="-342900"/>
            <a:ext cx="3200677" cy="155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4041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7" name="Google Shape;1307;p38"/>
          <p:cNvPicPr preferRelativeResize="0"/>
          <p:nvPr/>
        </p:nvPicPr>
        <p:blipFill rotWithShape="1">
          <a:blip r:embed="rId3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2009" r="18455"/>
          <a:stretch/>
        </p:blipFill>
        <p:spPr>
          <a:xfrm rot="-1020103">
            <a:off x="16458482" y="1344872"/>
            <a:ext cx="1304402" cy="12324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D0EA40B-42E0-287A-3DFF-AFDB2BD68B6F}"/>
              </a:ext>
            </a:extLst>
          </p:cNvPr>
          <p:cNvGrpSpPr/>
          <p:nvPr/>
        </p:nvGrpSpPr>
        <p:grpSpPr>
          <a:xfrm>
            <a:off x="0" y="7264948"/>
            <a:ext cx="4042117" cy="3022052"/>
            <a:chOff x="968150" y="5448550"/>
            <a:chExt cx="5179956" cy="3561208"/>
          </a:xfrm>
        </p:grpSpPr>
        <p:pic>
          <p:nvPicPr>
            <p:cNvPr id="1303" name="Google Shape;1303;p38"/>
            <p:cNvPicPr preferRelativeResize="0"/>
            <p:nvPr/>
          </p:nvPicPr>
          <p:blipFill rotWithShape="1">
            <a:blip r:embed="rId4">
              <a:alphaModFix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l="26806" t="7660" r="25401" b="5390"/>
            <a:stretch/>
          </p:blipFill>
          <p:spPr>
            <a:xfrm>
              <a:off x="968150" y="5448550"/>
              <a:ext cx="3479904" cy="35612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9" name="Google Shape;1309;p38"/>
            <p:cNvPicPr preferRelativeResize="0"/>
            <p:nvPr/>
          </p:nvPicPr>
          <p:blipFill rotWithShape="1">
            <a:blip r:embed="rId5">
              <a:alphaModFix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l="15236" r="10474"/>
            <a:stretch/>
          </p:blipFill>
          <p:spPr>
            <a:xfrm rot="1220421">
              <a:off x="3042956" y="5883193"/>
              <a:ext cx="3105150" cy="27817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39CCBFA-0AA1-1E65-862A-A28576A5D1B1}"/>
              </a:ext>
            </a:extLst>
          </p:cNvPr>
          <p:cNvSpPr txBox="1"/>
          <p:nvPr/>
        </p:nvSpPr>
        <p:spPr>
          <a:xfrm>
            <a:off x="3543300" y="1550540"/>
            <a:ext cx="11201400" cy="7263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 err="1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PrepBot</a:t>
            </a:r>
            <a:r>
              <a:rPr lang="en-US" sz="6000" b="1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– </a:t>
            </a:r>
            <a:r>
              <a:rPr lang="en-US" sz="6000" b="1" dirty="0">
                <a:solidFill>
                  <a:srgbClr val="1F7BE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Interview </a:t>
            </a:r>
            <a:r>
              <a:rPr lang="en-US" sz="6000" b="1" dirty="0" err="1">
                <a:solidFill>
                  <a:srgbClr val="1F7BE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Preapration</a:t>
            </a:r>
            <a:r>
              <a:rPr lang="en-US" sz="6000" b="1" dirty="0">
                <a:solidFill>
                  <a:srgbClr val="1F7BE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Bot</a:t>
            </a:r>
          </a:p>
          <a:p>
            <a:pPr algn="ctr"/>
            <a:endParaRPr lang="en-US" sz="1600" b="1" dirty="0">
              <a:solidFill>
                <a:srgbClr val="1F7BE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r>
              <a:rPr lang="en-IN" sz="2700" dirty="0"/>
              <a:t>🔹 </a:t>
            </a:r>
            <a:r>
              <a:rPr lang="en-IN" sz="2700" b="1" dirty="0"/>
              <a:t>Purpose</a:t>
            </a:r>
            <a:r>
              <a:rPr lang="en-IN" sz="2700" dirty="0"/>
              <a:t> – 🎯 </a:t>
            </a:r>
            <a:r>
              <a:rPr lang="en-IN" sz="2700" i="1" dirty="0"/>
              <a:t>Helps users prepare for HR and technical interviews with AI-driven assistance.</a:t>
            </a:r>
            <a:endParaRPr lang="en-IN" sz="2700" dirty="0"/>
          </a:p>
          <a:p>
            <a:r>
              <a:rPr lang="en-IN" sz="2700" dirty="0"/>
              <a:t>🔹 </a:t>
            </a:r>
            <a:r>
              <a:rPr lang="en-IN" sz="2700" b="1" dirty="0"/>
              <a:t>Interview Type Selection</a:t>
            </a:r>
            <a:r>
              <a:rPr lang="en-IN" sz="2700" dirty="0"/>
              <a:t> – 🔄 </a:t>
            </a:r>
            <a:r>
              <a:rPr lang="en-IN" sz="2700" i="1" dirty="0"/>
              <a:t>Users can choose between HR or technical interview practice.</a:t>
            </a:r>
            <a:endParaRPr lang="en-IN" sz="2700" dirty="0"/>
          </a:p>
          <a:p>
            <a:r>
              <a:rPr lang="en-IN" sz="2700" dirty="0"/>
              <a:t>🔹 </a:t>
            </a:r>
            <a:r>
              <a:rPr lang="en-IN" sz="2700" b="1" dirty="0"/>
              <a:t>Interactive Q&amp;A</a:t>
            </a:r>
            <a:r>
              <a:rPr lang="en-IN" sz="2700" dirty="0"/>
              <a:t> – 💬 </a:t>
            </a:r>
            <a:r>
              <a:rPr lang="en-IN" sz="2700" i="1" dirty="0"/>
              <a:t>Users can ask any interview-related questions or queries.</a:t>
            </a:r>
            <a:endParaRPr lang="en-IN" sz="2700" dirty="0"/>
          </a:p>
          <a:p>
            <a:r>
              <a:rPr lang="en-IN" sz="2700" dirty="0"/>
              <a:t>🔹 </a:t>
            </a:r>
            <a:r>
              <a:rPr lang="en-IN" sz="2700" b="1" dirty="0"/>
              <a:t>AI-Generated Responses</a:t>
            </a:r>
            <a:r>
              <a:rPr lang="en-IN" sz="2700" dirty="0"/>
              <a:t> – 🤖 </a:t>
            </a:r>
            <a:r>
              <a:rPr lang="en-IN" sz="2700" i="1" dirty="0"/>
              <a:t>Provides relevant recommendations and tips for better answers.</a:t>
            </a:r>
            <a:endParaRPr lang="en-IN" sz="2700" dirty="0"/>
          </a:p>
          <a:p>
            <a:r>
              <a:rPr lang="en-IN" sz="2700" dirty="0"/>
              <a:t>🔹 </a:t>
            </a:r>
            <a:r>
              <a:rPr lang="en-IN" sz="2700" b="1" dirty="0"/>
              <a:t>User-Friendly Interface</a:t>
            </a:r>
            <a:r>
              <a:rPr lang="en-IN" sz="2700" dirty="0"/>
              <a:t> – ✅ </a:t>
            </a:r>
            <a:r>
              <a:rPr lang="en-IN" sz="2700" i="1" dirty="0"/>
              <a:t>Designed for easy and effective interaction, making preparation seamless.</a:t>
            </a:r>
            <a:endParaRPr lang="en-IN" sz="2700" dirty="0"/>
          </a:p>
          <a:p>
            <a:pPr algn="ctr"/>
            <a:endParaRPr lang="en-US" sz="6000" b="1" dirty="0">
              <a:solidFill>
                <a:srgbClr val="1F7BE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F346BA-C6F2-FB9F-637F-B29C359423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" y="60965"/>
            <a:ext cx="2743438" cy="10303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2FE414-CC41-A30B-FFC4-275E20DABF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16200" y="-201187"/>
            <a:ext cx="3200677" cy="15546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6F3DD9A-2860-CC0A-8A0F-A68A95B5A008}"/>
              </a:ext>
            </a:extLst>
          </p:cNvPr>
          <p:cNvSpPr txBox="1"/>
          <p:nvPr/>
        </p:nvSpPr>
        <p:spPr>
          <a:xfrm>
            <a:off x="563880" y="1104900"/>
            <a:ext cx="10572162" cy="8679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0" b="1" dirty="0" err="1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JobFit</a:t>
            </a:r>
            <a:r>
              <a:rPr lang="en-IN" sz="8000" b="1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AI – </a:t>
            </a:r>
            <a:r>
              <a:rPr lang="en-IN" sz="8000" b="1" dirty="0">
                <a:solidFill>
                  <a:srgbClr val="1F7BE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AI Interviewer</a:t>
            </a:r>
          </a:p>
          <a:p>
            <a:pPr algn="ctr"/>
            <a:endParaRPr lang="en-IN" sz="1400" b="1" dirty="0">
              <a:solidFill>
                <a:srgbClr val="1F7BE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r>
              <a:rPr lang="en-IN" sz="3200" dirty="0"/>
              <a:t>🔹 </a:t>
            </a:r>
            <a:r>
              <a:rPr lang="en-IN" sz="3200" b="1" dirty="0"/>
              <a:t>Purpose</a:t>
            </a:r>
            <a:r>
              <a:rPr lang="en-IN" sz="3200" dirty="0"/>
              <a:t> – 🎯 </a:t>
            </a:r>
            <a:r>
              <a:rPr lang="en-IN" sz="3200" i="1" dirty="0"/>
              <a:t>Simulates real interviews by asking HR and technical questions.</a:t>
            </a:r>
            <a:endParaRPr lang="en-IN" sz="3200" dirty="0"/>
          </a:p>
          <a:p>
            <a:r>
              <a:rPr lang="en-IN" sz="3200" dirty="0"/>
              <a:t>🔹 </a:t>
            </a:r>
            <a:r>
              <a:rPr lang="en-IN" sz="3200" b="1" dirty="0"/>
              <a:t>Interview Process</a:t>
            </a:r>
            <a:r>
              <a:rPr lang="en-IN" sz="3200" dirty="0"/>
              <a:t> – ❓ </a:t>
            </a:r>
            <a:r>
              <a:rPr lang="en-IN" sz="3200" i="1" dirty="0"/>
              <a:t>Asks relevant questions based on the selected interview type (HR or Technical).</a:t>
            </a:r>
            <a:endParaRPr lang="en-IN" sz="3200" dirty="0"/>
          </a:p>
          <a:p>
            <a:r>
              <a:rPr lang="en-IN" sz="3200" dirty="0"/>
              <a:t>🔹 </a:t>
            </a:r>
            <a:r>
              <a:rPr lang="en-IN" sz="3200" b="1" dirty="0"/>
              <a:t>User Interaction</a:t>
            </a:r>
            <a:r>
              <a:rPr lang="en-IN" sz="3200" dirty="0"/>
              <a:t> – 👤 </a:t>
            </a:r>
            <a:r>
              <a:rPr lang="en-IN" sz="3200" i="1" dirty="0"/>
              <a:t>The user answers the questions just like in a real interview.</a:t>
            </a:r>
            <a:endParaRPr lang="en-IN" sz="3200" dirty="0"/>
          </a:p>
          <a:p>
            <a:r>
              <a:rPr lang="en-IN" sz="3200" dirty="0"/>
              <a:t>🔹 </a:t>
            </a:r>
            <a:r>
              <a:rPr lang="en-IN" sz="3200" b="1" dirty="0"/>
              <a:t>AI-Generated Feedback</a:t>
            </a:r>
            <a:r>
              <a:rPr lang="en-IN" sz="3200" dirty="0"/>
              <a:t> – 🤖 </a:t>
            </a:r>
            <a:r>
              <a:rPr lang="en-IN" sz="3200" i="1" dirty="0"/>
              <a:t>Provides AI-generated feedback after each response to improve answers.</a:t>
            </a:r>
            <a:endParaRPr lang="en-IN" sz="3200" dirty="0"/>
          </a:p>
          <a:p>
            <a:r>
              <a:rPr lang="en-IN" sz="3200" dirty="0"/>
              <a:t>🔹 </a:t>
            </a:r>
            <a:r>
              <a:rPr lang="en-IN" sz="3200" b="1" dirty="0"/>
              <a:t>Realistic Experience</a:t>
            </a:r>
            <a:r>
              <a:rPr lang="en-IN" sz="3200" dirty="0"/>
              <a:t> – 🎭 </a:t>
            </a:r>
            <a:r>
              <a:rPr lang="en-IN" sz="3200" i="1" dirty="0"/>
              <a:t>Mimics real interview scenarios to prepare users effectively.</a:t>
            </a:r>
            <a:endParaRPr lang="en-IN" sz="3200" dirty="0"/>
          </a:p>
          <a:p>
            <a:r>
              <a:rPr lang="en-IN" sz="3200" dirty="0"/>
              <a:t>🔹 </a:t>
            </a:r>
            <a:r>
              <a:rPr lang="en-IN" sz="3200" b="1" dirty="0"/>
              <a:t>Skill Enhancement</a:t>
            </a:r>
            <a:r>
              <a:rPr lang="en-IN" sz="3200" dirty="0"/>
              <a:t> – 🚀 </a:t>
            </a:r>
            <a:r>
              <a:rPr lang="en-IN" sz="3200" i="1" dirty="0"/>
              <a:t>Helps users refine responses and boost confidence for actual interviews.</a:t>
            </a:r>
            <a:endParaRPr lang="en-IN" sz="3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434647-8768-8EAD-3CEF-DE63B6A8C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5562" y="2480740"/>
            <a:ext cx="7182438" cy="637892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1C0A407-1BB2-DA80-F5EC-40F4B9B68F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" y="137165"/>
            <a:ext cx="2743438" cy="10303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68ED30-8B74-6EBC-F76A-D961032DEB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92400" y="-266700"/>
            <a:ext cx="3200677" cy="15546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1323">
          <a:extLst>
            <a:ext uri="{FF2B5EF4-FFF2-40B4-BE49-F238E27FC236}">
              <a16:creationId xmlns:a16="http://schemas.microsoft.com/office/drawing/2014/main" id="{DABA3A49-697A-83B7-8DD8-A254CD562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Story Pin image">
            <a:extLst>
              <a:ext uri="{FF2B5EF4-FFF2-40B4-BE49-F238E27FC236}">
                <a16:creationId xmlns:a16="http://schemas.microsoft.com/office/drawing/2014/main" id="{D7F61673-1DA4-9728-17F4-DD381F171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82800" y="6896100"/>
            <a:ext cx="3251002" cy="32510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This may contain: a person holding a tablet with icons above it and a clock on the wall behind them">
            <a:extLst>
              <a:ext uri="{FF2B5EF4-FFF2-40B4-BE49-F238E27FC236}">
                <a16:creationId xmlns:a16="http://schemas.microsoft.com/office/drawing/2014/main" id="{1E79BBF8-1220-14A6-EFB9-1774F0D2F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18" y="1714500"/>
            <a:ext cx="3862684" cy="39624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A71D8599-B790-0FBF-DD55-AA6569DA64B4}"/>
              </a:ext>
            </a:extLst>
          </p:cNvPr>
          <p:cNvGrpSpPr/>
          <p:nvPr/>
        </p:nvGrpSpPr>
        <p:grpSpPr>
          <a:xfrm>
            <a:off x="4343400" y="2019300"/>
            <a:ext cx="10439400" cy="6916032"/>
            <a:chOff x="4212765" y="2165996"/>
            <a:chExt cx="10722435" cy="706843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A048BD6-5519-0403-31E1-2C2273D72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4762" y="2165996"/>
              <a:ext cx="814938" cy="814938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371EE76-D52C-D009-11F2-140F972794D4}"/>
                </a:ext>
              </a:extLst>
            </p:cNvPr>
            <p:cNvSpPr txBox="1"/>
            <p:nvPr/>
          </p:nvSpPr>
          <p:spPr>
            <a:xfrm>
              <a:off x="5204862" y="2247900"/>
              <a:ext cx="9730338" cy="69865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3200" b="1" dirty="0"/>
                <a:t>Automated Alerts</a:t>
              </a:r>
              <a:r>
                <a:rPr lang="en-IN" sz="3200" dirty="0"/>
                <a:t> – ⏰ </a:t>
              </a:r>
              <a:r>
                <a:rPr lang="en-IN" sz="3200" i="1" dirty="0"/>
                <a:t>Notifies employees to take breaks at regular intervals to maintain productivity.</a:t>
              </a:r>
            </a:p>
            <a:p>
              <a:endParaRPr lang="en-IN" sz="3200" dirty="0"/>
            </a:p>
            <a:p>
              <a:r>
                <a:rPr lang="en-IN" sz="3200" dirty="0"/>
                <a:t> </a:t>
              </a:r>
              <a:r>
                <a:rPr lang="en-IN" sz="3200" b="1" dirty="0"/>
                <a:t>Customizable Reminders</a:t>
              </a:r>
              <a:r>
                <a:rPr lang="en-IN" sz="3200" dirty="0"/>
                <a:t> – ⚙️ </a:t>
              </a:r>
              <a:r>
                <a:rPr lang="en-IN" sz="3200" i="1" dirty="0"/>
                <a:t>Users can adjust break timings based on their work schedule.</a:t>
              </a:r>
            </a:p>
            <a:p>
              <a:endParaRPr lang="en-IN" sz="3200" dirty="0"/>
            </a:p>
            <a:p>
              <a:r>
                <a:rPr lang="en-IN" sz="3200" dirty="0"/>
                <a:t> </a:t>
              </a:r>
              <a:r>
                <a:rPr lang="en-IN" sz="3200" b="1" dirty="0"/>
                <a:t>Snooze &amp; Dismiss Options</a:t>
              </a:r>
              <a:r>
                <a:rPr lang="en-IN" sz="3200" dirty="0"/>
                <a:t> – ⏳ </a:t>
              </a:r>
              <a:r>
                <a:rPr lang="en-IN" sz="3200" i="1" dirty="0"/>
                <a:t>Snooze for 10 seconds or stop reminders as per preference.</a:t>
              </a:r>
            </a:p>
            <a:p>
              <a:endParaRPr lang="en-IN" sz="3200" dirty="0"/>
            </a:p>
            <a:p>
              <a:r>
                <a:rPr lang="en-IN" sz="3200" b="1" dirty="0"/>
                <a:t>Health &amp; Productivity Boost</a:t>
              </a:r>
              <a:r>
                <a:rPr lang="en-IN" sz="3200" dirty="0"/>
                <a:t> – 💡 </a:t>
              </a:r>
              <a:r>
                <a:rPr lang="en-IN" sz="3200" i="1" dirty="0"/>
                <a:t>Encourages short breaks to reduce fatigue and improve focus.</a:t>
              </a:r>
            </a:p>
            <a:p>
              <a:endParaRPr lang="en-IN" sz="3200" dirty="0"/>
            </a:p>
            <a:p>
              <a:r>
                <a:rPr lang="en-IN" sz="3200" dirty="0"/>
                <a:t> </a:t>
              </a:r>
              <a:r>
                <a:rPr lang="en-IN" sz="3200" b="1" dirty="0"/>
                <a:t>User-Friendly Interface</a:t>
              </a:r>
              <a:r>
                <a:rPr lang="en-IN" sz="3200" dirty="0"/>
                <a:t> – ✅ </a:t>
              </a:r>
              <a:r>
                <a:rPr lang="en-IN" sz="3200" i="1" dirty="0"/>
                <a:t>Simple and intuitive design for smooth usage.</a:t>
              </a:r>
              <a:endParaRPr lang="en-IN" sz="3200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E19599E-4B41-1CB4-D572-4289342CF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4762" y="3541696"/>
              <a:ext cx="814938" cy="81493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19FC509-F5BD-096F-02F6-13C65233222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12765" y="6515100"/>
              <a:ext cx="816935" cy="81083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3A8773B-E9F4-C47C-B398-6873800673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13611" y="5143500"/>
              <a:ext cx="816935" cy="810838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22E43C0-EA6E-ACA7-929B-0484084E5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12765" y="7886700"/>
              <a:ext cx="816935" cy="810838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A90FC54-570D-0697-86AF-744BCE703873}"/>
              </a:ext>
            </a:extLst>
          </p:cNvPr>
          <p:cNvSpPr txBox="1"/>
          <p:nvPr/>
        </p:nvSpPr>
        <p:spPr>
          <a:xfrm>
            <a:off x="4495800" y="342900"/>
            <a:ext cx="11658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dirty="0">
                <a:solidFill>
                  <a:srgbClr val="1F7BE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Break Time </a:t>
            </a:r>
            <a:r>
              <a:rPr lang="en-IN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Reminder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D86EA0-8246-7953-B660-E6089384EC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0" y="106550"/>
            <a:ext cx="2743438" cy="10303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470161-9025-5DDC-3035-176589FDA0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92400" y="-297315"/>
            <a:ext cx="3200677" cy="155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7612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71773-D368-10C0-72B4-E12EF416E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14F5E4F-B1D2-FDC4-A11F-49DC1085781B}"/>
              </a:ext>
            </a:extLst>
          </p:cNvPr>
          <p:cNvSpPr/>
          <p:nvPr/>
        </p:nvSpPr>
        <p:spPr>
          <a:xfrm>
            <a:off x="838200" y="2019300"/>
            <a:ext cx="16611600" cy="7714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55CBB9-0793-CD9B-4310-527A6AE4F0F6}"/>
              </a:ext>
            </a:extLst>
          </p:cNvPr>
          <p:cNvSpPr txBox="1"/>
          <p:nvPr/>
        </p:nvSpPr>
        <p:spPr>
          <a:xfrm>
            <a:off x="2362200" y="553256"/>
            <a:ext cx="15544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dirty="0">
                <a:solidFill>
                  <a:srgbClr val="1F7BE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Task Management </a:t>
            </a:r>
            <a:r>
              <a:rPr lang="en-IN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System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6D9E67-8EA6-D940-9982-B70F195678AD}"/>
              </a:ext>
            </a:extLst>
          </p:cNvPr>
          <p:cNvSpPr txBox="1"/>
          <p:nvPr/>
        </p:nvSpPr>
        <p:spPr>
          <a:xfrm>
            <a:off x="1828800" y="2552700"/>
            <a:ext cx="134112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Daily Task Overview Pop-up </a:t>
            </a:r>
            <a:r>
              <a:rPr lang="en-US" sz="3600" dirty="0"/>
              <a:t>– The admin gets a pop-up notification showing the number of remaining tasks for the </a:t>
            </a:r>
            <a:r>
              <a:rPr lang="en-US" sz="3600" dirty="0" err="1"/>
              <a:t>day.Employee</a:t>
            </a:r>
            <a:r>
              <a:rPr lang="en-US" sz="3600" dirty="0"/>
              <a:t> Work </a:t>
            </a:r>
            <a:r>
              <a:rPr lang="en-US" sz="3600" b="1" dirty="0"/>
              <a:t>Progress Tracking </a:t>
            </a:r>
            <a:r>
              <a:rPr lang="en-US" sz="3600" dirty="0"/>
              <a:t>– The admin can see each employee's completed, pending, and in-progress tasks with due dates.</a:t>
            </a:r>
          </a:p>
          <a:p>
            <a:r>
              <a:rPr lang="en-US" sz="3600" b="1" dirty="0"/>
              <a:t>Work-from-Home Status </a:t>
            </a:r>
            <a:r>
              <a:rPr lang="en-US" sz="3600" dirty="0"/>
              <a:t>– A dedicated section displays which employees are working from home.</a:t>
            </a:r>
          </a:p>
          <a:p>
            <a:r>
              <a:rPr lang="en-US" sz="3600" b="1" dirty="0"/>
              <a:t>Task Assignment &amp; Management </a:t>
            </a:r>
            <a:r>
              <a:rPr lang="en-US" sz="3600" dirty="0"/>
              <a:t>– The admin can assign, edit, and reassign tasks to employees based on workload.</a:t>
            </a:r>
          </a:p>
          <a:p>
            <a:r>
              <a:rPr lang="en-US" sz="3600" b="1" dirty="0"/>
              <a:t>Performance Monitoring </a:t>
            </a:r>
            <a:r>
              <a:rPr lang="en-US" sz="3600" dirty="0"/>
              <a:t>– Visual reports and progress bars show how much work each employee has completed.</a:t>
            </a:r>
          </a:p>
          <a:p>
            <a:r>
              <a:rPr lang="en-US" sz="3600" b="1" dirty="0"/>
              <a:t>Real-Time Updates </a:t>
            </a:r>
            <a:r>
              <a:rPr lang="en-US" sz="3600" dirty="0"/>
              <a:t>– The panel updates dynamically, ensuring the admin always sees the latest task and employee status.</a:t>
            </a:r>
            <a:endParaRPr lang="en-IN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B9BC74-467A-1CF7-4D9E-FC27AEB7E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" y="60965"/>
            <a:ext cx="2743438" cy="10303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98568D3-5266-E9A7-CD75-47D1C5B69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2400" y="-342900"/>
            <a:ext cx="3200677" cy="155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9614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00115-1AD6-56C9-CACB-54ECAE16C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A5AEB52-7236-5589-EB0A-150EEB2D4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438" cy="10303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C542F1-9C03-DD11-28D2-D1D155ED851C}"/>
              </a:ext>
            </a:extLst>
          </p:cNvPr>
          <p:cNvSpPr txBox="1"/>
          <p:nvPr/>
        </p:nvSpPr>
        <p:spPr>
          <a:xfrm>
            <a:off x="2286000" y="368593"/>
            <a:ext cx="6629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dirty="0">
                <a:solidFill>
                  <a:srgbClr val="0A47C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Scope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52A7965-C66B-58D5-15C0-986286FC3768}"/>
              </a:ext>
            </a:extLst>
          </p:cNvPr>
          <p:cNvGrpSpPr/>
          <p:nvPr/>
        </p:nvGrpSpPr>
        <p:grpSpPr>
          <a:xfrm>
            <a:off x="10515600" y="0"/>
            <a:ext cx="11277600" cy="10287000"/>
            <a:chOff x="11582400" y="254464"/>
            <a:chExt cx="10210800" cy="95250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AAF1772-7600-A2D5-CA18-B7FD3C10E5C4}"/>
                </a:ext>
              </a:extLst>
            </p:cNvPr>
            <p:cNvSpPr/>
            <p:nvPr/>
          </p:nvSpPr>
          <p:spPr>
            <a:xfrm>
              <a:off x="11582400" y="254464"/>
              <a:ext cx="10210800" cy="9525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EFC2B6-FB3C-B041-50DA-082A9F92FECB}"/>
                </a:ext>
              </a:extLst>
            </p:cNvPr>
            <p:cNvSpPr/>
            <p:nvPr/>
          </p:nvSpPr>
          <p:spPr>
            <a:xfrm>
              <a:off x="13411200" y="1333500"/>
              <a:ext cx="8382000" cy="7467600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C854BA0-5215-2257-B08D-2C1A0E4A5EB6}"/>
                </a:ext>
              </a:extLst>
            </p:cNvPr>
            <p:cNvSpPr/>
            <p:nvPr/>
          </p:nvSpPr>
          <p:spPr>
            <a:xfrm>
              <a:off x="15544800" y="2083264"/>
              <a:ext cx="6248400" cy="5867400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EFEDDF9-9BAD-35E6-44B4-2F6B3FA4B9F1}"/>
                </a:ext>
              </a:extLst>
            </p:cNvPr>
            <p:cNvSpPr/>
            <p:nvPr/>
          </p:nvSpPr>
          <p:spPr>
            <a:xfrm>
              <a:off x="16992600" y="2642528"/>
              <a:ext cx="4800600" cy="443183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980B7C52-75BD-F097-57F2-CC955E0F39CD}"/>
              </a:ext>
            </a:extLst>
          </p:cNvPr>
          <p:cNvSpPr/>
          <p:nvPr/>
        </p:nvSpPr>
        <p:spPr>
          <a:xfrm>
            <a:off x="9606261" y="1975104"/>
            <a:ext cx="10668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B91738D-129A-A5B2-6FF2-3EEE005C4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631" y="4686260"/>
            <a:ext cx="1066892" cy="91447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FEC1672-4BF0-1B3E-2E97-814F43306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5813" y="7640050"/>
            <a:ext cx="1066892" cy="91447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13CD55E-8F93-865A-6841-3A2835608BCA}"/>
              </a:ext>
            </a:extLst>
          </p:cNvPr>
          <p:cNvSpPr txBox="1"/>
          <p:nvPr/>
        </p:nvSpPr>
        <p:spPr>
          <a:xfrm>
            <a:off x="277898" y="1871243"/>
            <a:ext cx="839715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3200" b="1" dirty="0"/>
              <a:t> Expansion in AI-Driven Workspaces</a:t>
            </a:r>
            <a:r>
              <a:rPr lang="en-US" sz="3200" dirty="0"/>
              <a:t> 🤖     </a:t>
            </a:r>
          </a:p>
          <a:p>
            <a:pPr algn="r"/>
            <a:r>
              <a:rPr lang="en-US" sz="3200" dirty="0"/>
              <a:t> Increasing demand for </a:t>
            </a:r>
            <a:r>
              <a:rPr lang="en-US" sz="3200" b="1" dirty="0"/>
              <a:t>virtual office solutions and smart automation</a:t>
            </a:r>
            <a:r>
              <a:rPr lang="en-US" sz="3200" dirty="0"/>
              <a:t> in businesses worldwide.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E92565-9DF3-1FF2-926F-1395B55490CA}"/>
              </a:ext>
            </a:extLst>
          </p:cNvPr>
          <p:cNvSpPr txBox="1"/>
          <p:nvPr/>
        </p:nvSpPr>
        <p:spPr>
          <a:xfrm>
            <a:off x="0" y="4451139"/>
            <a:ext cx="861055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3200" b="1" dirty="0"/>
              <a:t>Integration with Advanced Technologies</a:t>
            </a:r>
            <a:r>
              <a:rPr lang="en-US" sz="3200" dirty="0"/>
              <a:t> 🌍</a:t>
            </a:r>
          </a:p>
          <a:p>
            <a:pPr algn="r"/>
            <a:r>
              <a:rPr lang="en-US" sz="3200" dirty="0"/>
              <a:t>Opportunities to incorporate </a:t>
            </a:r>
            <a:r>
              <a:rPr lang="en-US" sz="3200" b="1" dirty="0"/>
              <a:t>AI, IoT,  and cybersecurity</a:t>
            </a:r>
            <a:r>
              <a:rPr lang="en-US" sz="3200" dirty="0"/>
              <a:t> for seamless workplace management.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5CBB35-8876-1169-6DB4-54696FEE7EEB}"/>
              </a:ext>
            </a:extLst>
          </p:cNvPr>
          <p:cNvSpPr txBox="1"/>
          <p:nvPr/>
        </p:nvSpPr>
        <p:spPr>
          <a:xfrm>
            <a:off x="110246" y="7523478"/>
            <a:ext cx="861055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3200" b="1" dirty="0"/>
              <a:t>Market Growth &amp; Business Adoption</a:t>
            </a:r>
            <a:r>
              <a:rPr lang="en-US" sz="3200" dirty="0"/>
              <a:t> 📈</a:t>
            </a:r>
          </a:p>
          <a:p>
            <a:pPr algn="r"/>
            <a:r>
              <a:rPr lang="en-US" sz="3200" dirty="0"/>
              <a:t>Rising adoption of </a:t>
            </a:r>
            <a:r>
              <a:rPr lang="en-US" sz="3200" b="1" dirty="0"/>
              <a:t>AI-powered office solutions</a:t>
            </a:r>
            <a:r>
              <a:rPr lang="en-US" sz="3200" dirty="0"/>
              <a:t> by startups, SMEs, and enterprises, driving long-term scalability.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B204D1-32FA-1F99-6BA0-3F32DFB05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92400" y="-342900"/>
            <a:ext cx="3200677" cy="155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583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D78446-BB4C-B5A1-2F30-9003CE75E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A286E8-CD38-16FE-5AA9-92F2B7DCE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438" cy="10303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1B10531-1535-C4EE-59A1-D655F3204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6628" y="0"/>
            <a:ext cx="1981372" cy="1152244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FEE38FA-6B78-93E2-0BCB-CAFDE19B7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B1EA65-DFFA-18DC-6376-6B37AAFF17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2F249B-432A-D975-96C8-46C1C1D00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" y="60965"/>
            <a:ext cx="2743438" cy="10303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BACB9E-A2ED-4993-DB89-C55FF6A3A5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92400" y="-342900"/>
            <a:ext cx="3200677" cy="155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7860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89B8A-CE4E-D1B1-1464-FC5E5720C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5E1E4E8-EA54-D17F-D8EE-F93693A36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438" cy="10303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1689BA2-0A0B-B2D8-B1ED-CE9E2FF7F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6628" y="0"/>
            <a:ext cx="1981372" cy="11522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B1B14B4-0B54-D71A-0A5C-D6135373E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9" y="0"/>
            <a:ext cx="18263681" cy="10287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337F6D-0C17-EF0F-A957-A3234E09AFF0}"/>
              </a:ext>
            </a:extLst>
          </p:cNvPr>
          <p:cNvSpPr txBox="1"/>
          <p:nvPr/>
        </p:nvSpPr>
        <p:spPr>
          <a:xfrm>
            <a:off x="6172200" y="3238500"/>
            <a:ext cx="925068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600" b="1" dirty="0">
                <a:solidFill>
                  <a:schemeClr val="bg1"/>
                </a:solidFill>
                <a:latin typeface="Arial Black" panose="020B0A04020102020204" pitchFamily="34" charset="0"/>
              </a:rPr>
              <a:t>THANK </a:t>
            </a:r>
          </a:p>
          <a:p>
            <a:r>
              <a:rPr lang="en-IN" sz="9600" b="1" dirty="0">
                <a:solidFill>
                  <a:schemeClr val="bg1"/>
                </a:solidFill>
                <a:latin typeface="Arial Black" panose="020B0A04020102020204" pitchFamily="34" charset="0"/>
              </a:rPr>
              <a:t>      YOU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63155C-2588-003A-6A1B-89C11A8817B6}"/>
              </a:ext>
            </a:extLst>
          </p:cNvPr>
          <p:cNvSpPr txBox="1"/>
          <p:nvPr/>
        </p:nvSpPr>
        <p:spPr>
          <a:xfrm>
            <a:off x="5486400" y="4761994"/>
            <a:ext cx="2590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dirty="0">
                <a:solidFill>
                  <a:schemeClr val="bg1"/>
                </a:solidFill>
                <a:latin typeface="Arial Black" panose="020B0A04020102020204" pitchFamily="34" charset="0"/>
              </a:rPr>
              <a:t>FOR</a:t>
            </a:r>
          </a:p>
          <a:p>
            <a:pPr algn="r"/>
            <a:r>
              <a:rPr lang="en-IN" sz="2800" dirty="0">
                <a:solidFill>
                  <a:schemeClr val="bg1"/>
                </a:solidFill>
                <a:latin typeface="Arial Black" panose="020B0A04020102020204" pitchFamily="34" charset="0"/>
              </a:rPr>
              <a:t>YOUR</a:t>
            </a:r>
          </a:p>
          <a:p>
            <a:pPr algn="r"/>
            <a:r>
              <a:rPr lang="en-IN" sz="2800" dirty="0">
                <a:solidFill>
                  <a:schemeClr val="bg1"/>
                </a:solidFill>
                <a:latin typeface="Arial Black" panose="020B0A04020102020204" pitchFamily="34" charset="0"/>
              </a:rPr>
              <a:t>ATTENTION</a:t>
            </a:r>
          </a:p>
        </p:txBody>
      </p:sp>
    </p:spTree>
    <p:extLst>
      <p:ext uri="{BB962C8B-B14F-4D97-AF65-F5344CB8AC3E}">
        <p14:creationId xmlns:p14="http://schemas.microsoft.com/office/powerpoint/2010/main" val="20236748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2881</TotalTime>
  <Words>586</Words>
  <Application>Microsoft Office PowerPoint</Application>
  <PresentationFormat>Custom</PresentationFormat>
  <Paragraphs>77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4" baseType="lpstr">
      <vt:lpstr>Montserrat Black</vt:lpstr>
      <vt:lpstr>Arial Black</vt:lpstr>
      <vt:lpstr>DM Sans</vt:lpstr>
      <vt:lpstr>Sitka Display Semibold</vt:lpstr>
      <vt:lpstr>Arial</vt:lpstr>
      <vt:lpstr>Sitka Heading Semibold</vt:lpstr>
      <vt:lpstr>Segoe UI Black</vt:lpstr>
      <vt:lpstr>Wingdings</vt:lpstr>
      <vt:lpstr>Bebas Neue</vt:lpstr>
      <vt:lpstr>Calibri</vt:lpstr>
      <vt:lpstr>Nunito Light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Yellow and White Resume Writing Workshop Webinar Keynote Presentation</dc:title>
  <dc:creator>Tejas</dc:creator>
  <cp:lastModifiedBy>Gagan deep</cp:lastModifiedBy>
  <cp:revision>17</cp:revision>
  <dcterms:created xsi:type="dcterms:W3CDTF">2006-08-16T00:00:00Z</dcterms:created>
  <dcterms:modified xsi:type="dcterms:W3CDTF">2025-02-09T07:25:15Z</dcterms:modified>
  <dc:identifier>DAGd7Qum7S4</dc:identifier>
</cp:coreProperties>
</file>